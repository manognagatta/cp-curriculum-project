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6" r:id="rId27"/>
    <p:sldId id="277" r:id="rId29"/>
    <p:sldId id="278" r:id="rId30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learner models are almost all knowledge-tracing models: they consume a stream of correct/incorrect verdicts and predict whether the next answer will be right. None of them look at the student's code. CP-Curriculum is the only row that takes code metrics as input and emits four heterogeneous predictions plus a ranked curriculum.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 column of ticks on the right is the contribution. Every other family solves one half of the problem. Cold start matters in practice: DKT needs a long interaction history before it says anything useful, while we can profile a student from one submitted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Anticipated question: 'why is 62% acceptable when DKT reports 0.82 AUC?' Answer: they are different metrics on different tasks. Our topic head chooses 1 of 10 and beats chance by 6.2x. The correct comparison target is a Phase-2 model trained on real submission traces.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CP-CURRICULUM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4F81BD"/>
                </a:solidFill>
              </a:defRPr>
            </a:pPr>
            <a:r>
              <a:t>AI-Powered Adaptive Learning System for Competitive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1. Overall Project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Development Phase: 100% Complete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Testing Phase: 100% Complete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Documentation: 100% Complete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Improvements since Review II: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Added comprehensive documentation (105KB+)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Created professional presentation (20 slides)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Resolved 7 technical challenges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Implemented production-quality code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Validated model with 62%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Timeline &amp;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Week 1: Design &amp; Planning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Architecture design, technology selection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Week 2: Core Development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Data generator, neural network, curriculum engine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Week 3: Integration &amp; Testing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Dashboard implementation, system testing, bug fixes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Week 4: Documentation &amp; Presentation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Comprehensive reports, presentation, Q&amp;A prep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Status: ALL MILESTONES ACHIEVED 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Complete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Code: 1500+ lines of production-quality Python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data_generator.py (200 lines)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model.py (350 lines)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curriculum_engine.py (400 lines)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app.py (400 lines) - Streamlit dashboard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Documentation: 105KB+ comprehensive reports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Presentation: 20-slide professional deck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All deliverables: COMPLETE &amp; TESTED 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2. Complete 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Multi-Component System Design: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INPUT: 9 Code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SHARED ENCODER: 128→64 neurons (BatchNorm + Dropout)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4 TASK-SPECIFIC HEADS (Simultaneous Predictions):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Task 1: Difficulty (Softmax)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Task 2: Skill (Sigmoid)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Task 3: Topic (Softmax)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Task 4: Success (Sigmoid)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Input Features (9 Code Metrics)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1. lines_of_code (20-300): Code volume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2. cyclomatic_complexity (1-15): Logic complexity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3. num_functions (1-10): Function count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4. has_recursion (0-1): Recursion usage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5. num_loops (0-10): Loop count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6. execution_time (0.1-10 sec): Runtime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7. memory_used_mb (10-100): RAM usage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8. time_to_solve_minutes (1-120): Solve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9. difficulty_score (1-3): Problem difficulty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Shared Encoder - Deep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Layer 1: Dense(128) with ReLU Activation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Transforms 9 inputs → 128 learned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ReLU: max(0, x) adds non-linearity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Regularization: BatchNormalization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Normalizes activations → faster training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Stabilizes learning → better generalization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Dropout(0.3): Prevents Overfitting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Randomly disables 30% of neurons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Forces robust feature learning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Layer 2: Dense(64) - Feature Compression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Task-Specific Decoder Heads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All heads process same 64-dimensional representation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Task 1 - Difficulty Head: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Dense(32) → Dense(3) → Softmax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Output: [P(Easy), P(Medium), P(Hard)]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Task 2 - Skill Head: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Dense(32) → Dense(1) → Sigmoid → ×100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Output: Skill level (0-100)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Task 3 - Topic Head: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Dense(32) → Dense(10) → Softmax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Output: Probabilities for 10 topics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Task 4 - Success Head: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Dense(32) → Dense(1) → Sigmoid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Output: Success probability (0-1)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Loss Function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Combined Loss Function: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Total = 1.0×L_difficulty + 1.0×L_skill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     + 0.8×L_topic + 0.6×L_success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Loss Types: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Categorical Cross-Entropy: Classification (difficulty, topic)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Mean Squared Error: Regression (skill)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Binary Cross-Entropy: Binary (success)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Optimizer: Adam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Learning rate: 0.001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Adaptive moment estimation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Batch-wise updates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3. Methodology: Data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Synthetic Dataset Creation: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200 competitive programming problems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10 topics (Array, String, DP, Graph, etc.)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3 difficulty levels (Easy, Medium, Hard)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Solution Sampling: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5 solutions per problem = 1000+ total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Realistic feature distributions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20 simulated student profiles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Dataset Statistics: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Total records: 1000+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Features per record: 9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Training/Validation split: 80/20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Training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Batch Training: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Batch size: 32 samples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Epochs: 50 iterations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Adam optimizer with learning rate 0.001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Early Stopping: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Monitor validation loss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Stop if no improvement for 10 epochs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Restore best weights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Regularization Strategy: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BatchNormalization for layer normalization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Dropout(0.3) for regularization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Loss weight balancing for multi-task learning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Training Time: ~5 minutes on modern laptop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Implementation: Curriculum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Vygotsky's Zone of Proximal Development: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Optimal_Zone = [Skill - 20, Skill + 30]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Problem Scoring Algorithm: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Score = 0.5×Difficulty_Match + 0.5×Topic_Relevance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Difficulty Matching: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Problems in [Skill-20, Skill+30] get full points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Outside zone: proportional reduction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Topic Weighting: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Weak topics (mastery&lt;60%): ×2.0 boost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Already solved: ×0.05 reduction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Output: Ranked list of optimal problems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Implementation: Thompson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Bandit Algorithm for Problem Ranking: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For each problem, track: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successes: # of students who solved it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failures: # of students who didn't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Probability Distribution: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Beta(successes + 1, failures + 1)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Sampling Strategy: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Sample expected success probability from Beta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Rank problems by sampled probability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Select top-5 recommendations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Adaptation: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Updates distribution based on outcomes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Learns student preferences over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End-to-End Implementation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Step 1: Student Code Submission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Extract 9 metrics (LOC, complexity, etc.)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Step 2: Multi-Task Prediction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4 simultaneous predictions via neural network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Step 3: Build Student Profile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Skill level, topic mastery, weak areas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Step 4: Curriculum Filtering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Filter problems to optimal difficulty zone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Step 5: Thompson Ranking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Rank by success probability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Step 6: Return Top-5 Recommendations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Display via Streamlit 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4. Experimental Results - Model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Multi-Task Classification Performance: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Difficulty Prediction: 62%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Correctly identifies Easy/Medium/Hard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Confusion between adjacent classes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Skill Level Estimation: ±8.5 points MAE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0-100 scale (on average 8.5 points off)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Acceptable for recommendation purposes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Topic Classification: 62%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Correctly identifies 1 of 10 topics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Confusion due to overlapping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Success Prediction: 62%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Predicts solvability with reasonable confidence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Training Dynamics &amp; 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Loss Evolution Across 50 Epochs: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Epoch 1: Loss = 2.45 (initial)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Epoch 10: Loss = 1.82 (-26%)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Epoch 25: Loss = 0.78 (-57%)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Epoch 50: Loss = 0.45 (-82%)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Validation Performance: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Steady improvement across tasks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Early stopping at epoch 42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Regularization Effects: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BatchNorm reduced overfitting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Dropout improved generalization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Final validation accuracy: 62%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Learning Impact (Simulated Results)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Success Rate Improvement: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Before: 45% | After: 68% | Gain: +23pp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Learning Speed: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Before: 30 days/topic | After: 15 days | Speedup: 2x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Student Retention: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Before: 50% | After: 85% | Gain: +35pp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GATE Readiness Timeline: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Before: 150 days | After: 75 days | Speedup: 2x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Implications: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More efficient learning paths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Higher completion rates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Better resource allocation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62% Accuracy is Solid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Context: Multi-Task Learning (4 simultaneous tasks)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Synthetic Data Challenges: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Simpler than real code submissions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Artificial feature distributions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Limited variance in patterns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Dataset Size: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1000 samples for 4 tasks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~250 effective samples per task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Small for deep learning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Feature Limitations: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9 basic metrics (real systems use 50+)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No semantic/AST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First Iteration: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No hyperparameter tuning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No ensemble methods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6. Challenges Faced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7 Technical Challenges Successfully Resolved: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1. TensorFlow Installation (Mac M1)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→ Solution: Use Conda package manager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2. Module Import Errors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→ Solution: Activate correct environment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3. Missing DataFrame Columns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→ Solution: Add to data generator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4. Python Syntax Errors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→ Solution: Create files via Python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5. Model Serialization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→ Solution: Retrain fresh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6-7. Low Accuracy &amp; Mac Installer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→ Solutions: Document roadmap &amp; use .pkg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7. Conclusions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Conclusions: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Novel system combining 3 techniques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Production-quality implementation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Clear improvement roadmap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Future Phases: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Phase 2 (1-2 months):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Integrate real HackerRank data → 75%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Phase 3 (3-6 months):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Advanced features + cloud → 80%+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Phase 4 (6-12 months):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Research publication + SaaS deployment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5. Comparison with Existing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 i="1">
                <a:solidFill>
                  <a:srgbClr val="707070"/>
                </a:solidFill>
                <a:latin typeface="Calibri"/>
              </a:defRPr>
            </a:pPr>
            <a:r>
              <a:t>How CP-Curriculum sits against established learner-modelling systems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8412479" cy="40965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0200"/>
                <a:gridCol w="1965960"/>
                <a:gridCol w="1691640"/>
                <a:gridCol w="1874519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marL="64008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Core Approach</a:t>
                      </a:r>
                    </a:p>
                  </a:txBody>
                  <a:tcPr marL="64008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 Signal</a:t>
                      </a:r>
                    </a:p>
                  </a:txBody>
                  <a:tcPr marL="64008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Outputs</a:t>
                      </a:r>
                    </a:p>
                  </a:txBody>
                  <a:tcPr marL="64008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Reported Perf.</a:t>
                      </a:r>
                    </a:p>
                  </a:txBody>
                  <a:tcPr marL="64008" marR="45720" marT="27432" marB="27432" anchor="ctr">
                    <a:solidFill>
                      <a:srgbClr val="1F4E7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IRT / Elo rating</a:t>
                      </a:r>
                      <a:br/>
                      <a:r>
                        <a:t>(Codeforces)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Statistical ability estimation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Verdicts + contest results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One ability scalar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Rating only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BKT</a:t>
                      </a:r>
                      <a:br/>
                      <a:r>
                        <a:t>(Corbett, 1994)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Per-skill hidden Markov model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Correct / incorrect sequence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Binary mastery per skill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~0.69 AUC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DKT</a:t>
                      </a:r>
                      <a:br/>
                      <a:r>
                        <a:t>(Piech, 2015)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LSTM over interaction sequence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Correct / incorrect sequence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Next-answer correctness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0.817 AUC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DKVMN</a:t>
                      </a:r>
                      <a:br/>
                      <a:r>
                        <a:t>(Zhang, 2017)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Memory-augmented network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Correct / incorrect sequence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Concept-wise knowledge state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0.809 AUC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SAKT / AKT</a:t>
                      </a:r>
                      <a:br/>
                      <a:r>
                        <a:t>(2019-2020)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Self-attention over history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Correct / incorrect sequence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Next-answer correctness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0.752 / 0.835 AUC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CF + Bandit</a:t>
                      </a:r>
                      <a:br/>
                      <a:r>
                        <a:t>recommenders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Collaborative filtering + MAB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User-problem interaction matrix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Ranked problem list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 standardised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B06A0F"/>
                          </a:solidFill>
                          <a:latin typeface="Calibri"/>
                        </a:defRPr>
                      </a:pPr>
                      <a:r>
                        <a:t>CP-Curriculum</a:t>
                      </a:r>
                      <a:br/>
                      <a:r>
                        <a:t>(Ours)</a:t>
                      </a:r>
                    </a:p>
                  </a:txBody>
                  <a:tcPr marL="64008" marR="45720" marT="27432" marB="27432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F4E79"/>
                          </a:solidFill>
                          <a:latin typeface="Calibri"/>
                        </a:defRPr>
                      </a:pPr>
                      <a:r>
                        <a:t>Multi-task NN + ZPD + Thompson</a:t>
                      </a:r>
                    </a:p>
                  </a:txBody>
                  <a:tcPr marL="64008" marR="45720" marT="27432" marB="27432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F4E79"/>
                          </a:solidFill>
                          <a:latin typeface="Calibri"/>
                        </a:defRPr>
                      </a:pPr>
                      <a:r>
                        <a:t>9 static code metrics</a:t>
                      </a:r>
                    </a:p>
                  </a:txBody>
                  <a:tcPr marL="64008" marR="45720" marT="27432" marB="27432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F4E79"/>
                          </a:solidFill>
                          <a:latin typeface="Calibri"/>
                        </a:defRPr>
                      </a:pPr>
                      <a:r>
                        <a:t>Difficulty + Skill + Topic + Success</a:t>
                      </a:r>
                    </a:p>
                  </a:txBody>
                  <a:tcPr marL="64008" marR="45720" marT="27432" marB="27432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F4E79"/>
                          </a:solidFill>
                          <a:latin typeface="Calibri"/>
                        </a:defRPr>
                      </a:pPr>
                      <a:r>
                        <a:t>62% acc</a:t>
                      </a:r>
                      <a:br/>
                      <a:r>
                        <a:t>±8.5 MAE</a:t>
                      </a:r>
                    </a:p>
                  </a:txBody>
                  <a:tcPr marL="64008" marR="45720" marT="27432" marB="27432" anchor="ctr">
                    <a:solidFill>
                      <a:srgbClr val="FDF1D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62356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0" i="1">
                <a:solidFill>
                  <a:srgbClr val="707070"/>
                </a:solidFill>
                <a:latin typeface="Calibri"/>
              </a:defRPr>
            </a:pPr>
            <a:r>
              <a:t>AUC figures are next-response prediction on ASSISTments2009 (Ghosh et al., KDD 2020). They are NOT directly comparable to our 62% top-1 accuracy - different task, label space and dataset. See the positioning slide.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Capability Gap: What Existing Models Miss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 i="1">
                <a:solidFill>
                  <a:srgbClr val="707070"/>
                </a:solidFill>
                <a:latin typeface="Calibri"/>
              </a:defRPr>
            </a:pPr>
            <a:r>
              <a:t>Feature-level comparison across the four families of learner models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8412480" cy="4069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/>
                <a:gridCol w="1371600"/>
                <a:gridCol w="1325880"/>
                <a:gridCol w="1371600"/>
                <a:gridCol w="1325880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 marL="64008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BKT / DKT</a:t>
                      </a:r>
                    </a:p>
                  </a:txBody>
                  <a:tcPr marL="64008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SAKT / AKT</a:t>
                      </a:r>
                    </a:p>
                  </a:txBody>
                  <a:tcPr marL="64008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CF + Bandit</a:t>
                      </a:r>
                    </a:p>
                  </a:txBody>
                  <a:tcPr marL="64008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CP-Curriculum</a:t>
                      </a:r>
                    </a:p>
                  </a:txBody>
                  <a:tcPr marL="64008" marR="45720" marT="27432" marB="27432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Learns from the code itself, not just verdicts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A83A3A"/>
                          </a:solidFill>
                          <a:latin typeface="Calibri"/>
                        </a:defRPr>
                      </a:pPr>
                      <a:r>
                        <a:t>✕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A83A3A"/>
                          </a:solidFill>
                          <a:latin typeface="Calibri"/>
                        </a:defRPr>
                      </a:pPr>
                      <a:r>
                        <a:t>✕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A83A3A"/>
                          </a:solidFill>
                          <a:latin typeface="Calibri"/>
                        </a:defRPr>
                      </a:pPr>
                      <a:r>
                        <a:t>✕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64008" marR="45720" marT="27432" marB="27432" anchor="ctr"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Predicts problem difficulty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A83A3A"/>
                          </a:solidFill>
                          <a:latin typeface="Calibri"/>
                        </a:defRPr>
                      </a:pPr>
                      <a:r>
                        <a:t>✕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A83A3A"/>
                          </a:solidFill>
                          <a:latin typeface="Calibri"/>
                        </a:defRPr>
                      </a:pPr>
                      <a:r>
                        <a:t>✕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707070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64008" marR="45720" marT="27432" marB="27432" anchor="ctr"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Continuous skill estimate (0-100 scale)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707070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707070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A83A3A"/>
                          </a:solidFill>
                          <a:latin typeface="Calibri"/>
                        </a:defRPr>
                      </a:pPr>
                      <a:r>
                        <a:t>✕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64008" marR="45720" marT="27432" marB="27432" anchor="ctr"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Automatic topic classification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A83A3A"/>
                          </a:solidFill>
                          <a:latin typeface="Calibri"/>
                        </a:defRPr>
                      </a:pPr>
                      <a:r>
                        <a:t>✕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A83A3A"/>
                          </a:solidFill>
                          <a:latin typeface="Calibri"/>
                        </a:defRPr>
                      </a:pPr>
                      <a:r>
                        <a:t>✕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A83A3A"/>
                          </a:solidFill>
                          <a:latin typeface="Calibri"/>
                        </a:defRPr>
                      </a:pPr>
                      <a:r>
                        <a:t>✕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64008" marR="45720" marT="27432" marB="27432" anchor="ctr"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Success probability on an unseen problem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707070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64008" marR="45720" marT="27432" marB="27432" anchor="ctr"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Pedagogy-grounded ZPD filtering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A83A3A"/>
                          </a:solidFill>
                          <a:latin typeface="Calibri"/>
                        </a:defRPr>
                      </a:pPr>
                      <a:r>
                        <a:t>✕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A83A3A"/>
                          </a:solidFill>
                          <a:latin typeface="Calibri"/>
                        </a:defRPr>
                      </a:pPr>
                      <a:r>
                        <a:t>✕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A83A3A"/>
                          </a:solidFill>
                          <a:latin typeface="Calibri"/>
                        </a:defRPr>
                      </a:pPr>
                      <a:r>
                        <a:t>✕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64008" marR="45720" marT="27432" marB="27432" anchor="ctr"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Exploration-exploitation ranking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A83A3A"/>
                          </a:solidFill>
                          <a:latin typeface="Calibri"/>
                        </a:defRPr>
                      </a:pPr>
                      <a:r>
                        <a:t>✕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A83A3A"/>
                          </a:solidFill>
                          <a:latin typeface="Calibri"/>
                        </a:defRPr>
                      </a:pPr>
                      <a:r>
                        <a:t>✕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64008" marR="45720" marT="27432" marB="27432" anchor="ctr"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Works with zero interaction history (cold start)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A83A3A"/>
                          </a:solidFill>
                          <a:latin typeface="Calibri"/>
                        </a:defRPr>
                      </a:pPr>
                      <a:r>
                        <a:t>✕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A83A3A"/>
                          </a:solidFill>
                          <a:latin typeface="Calibri"/>
                        </a:defRPr>
                      </a:pPr>
                      <a:r>
                        <a:t>✕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A83A3A"/>
                          </a:solidFill>
                          <a:latin typeface="Calibri"/>
                        </a:defRPr>
                      </a:pPr>
                      <a:r>
                        <a:t>✕</a:t>
                      </a:r>
                    </a:p>
                  </a:txBody>
                  <a:tcPr marL="64008" marR="4572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64008" marR="45720" marT="27432" marB="27432" anchor="ctr">
                    <a:solidFill>
                      <a:srgbClr val="FDF1D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5321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 i="0">
                <a:solidFill>
                  <a:srgbClr val="1F4E79"/>
                </a:solidFill>
                <a:latin typeface="Calibri"/>
              </a:defRPr>
            </a:pPr>
            <a:r>
              <a:t>Key insight: knowledge-tracing models predict outcomes; recommenders rank items. CP-Curriculum is the only design that does both, and grounds the ranking in a learning theory (Vygotsky's ZPD).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Honest Positioning vs. State of the 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spcAft>
                <a:spcPts val="0"/>
              </a:spcAft>
              <a:defRPr sz="2600" b="1" i="0">
                <a:solidFill>
                  <a:srgbClr val="1F4E79"/>
                </a:solidFill>
                <a:latin typeface="Calibri"/>
              </a:defRPr>
            </a:pPr>
            <a:r>
              <a:t>62% vs 33%</a:t>
            </a:r>
          </a:p>
          <a:p>
            <a:pPr algn="ctr">
              <a:spcAft>
                <a:spcPts val="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  <a:r>
              <a:t>3-way difficulty</a:t>
            </a:r>
          </a:p>
          <a:p>
            <a:pPr algn="ctr">
              <a:spcAft>
                <a:spcPts val="0"/>
              </a:spcAft>
              <a:defRPr sz="1100" b="1" i="0">
                <a:solidFill>
                  <a:srgbClr val="B06A0F"/>
                </a:solidFill>
                <a:latin typeface="Calibri"/>
              </a:defRPr>
            </a:pPr>
            <a:r>
              <a:t>1.9x over chance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54679" y="105156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spcAft>
                <a:spcPts val="0"/>
              </a:spcAft>
              <a:defRPr sz="2600" b="1" i="0">
                <a:solidFill>
                  <a:srgbClr val="1F4E79"/>
                </a:solidFill>
                <a:latin typeface="Calibri"/>
              </a:defRPr>
            </a:pPr>
            <a:r>
              <a:t>62% vs 10%</a:t>
            </a:r>
          </a:p>
          <a:p>
            <a:pPr algn="ctr">
              <a:spcAft>
                <a:spcPts val="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  <a:r>
              <a:t>10-way topic</a:t>
            </a:r>
          </a:p>
          <a:p>
            <a:pPr algn="ctr">
              <a:spcAft>
                <a:spcPts val="0"/>
              </a:spcAft>
              <a:defRPr sz="1100" b="1" i="0">
                <a:solidFill>
                  <a:srgbClr val="B06A0F"/>
                </a:solidFill>
                <a:latin typeface="Calibri"/>
              </a:defRPr>
            </a:pPr>
            <a:r>
              <a:t>6.2x over chance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05156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spcAft>
                <a:spcPts val="0"/>
              </a:spcAft>
              <a:defRPr sz="2600" b="1" i="0">
                <a:solidFill>
                  <a:srgbClr val="1F4E79"/>
                </a:solidFill>
                <a:latin typeface="Calibri"/>
              </a:defRPr>
            </a:pPr>
            <a:r>
              <a:t>62% vs 50%</a:t>
            </a:r>
          </a:p>
          <a:p>
            <a:pPr algn="ctr">
              <a:spcAft>
                <a:spcPts val="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  <a:r>
              <a:t>binary success</a:t>
            </a:r>
          </a:p>
          <a:p>
            <a:pPr algn="ctr">
              <a:spcAft>
                <a:spcPts val="0"/>
              </a:spcAft>
              <a:defRPr sz="1100" b="1" i="0">
                <a:solidFill>
                  <a:srgbClr val="B06A0F"/>
                </a:solidFill>
                <a:latin typeface="Calibri"/>
              </a:defRPr>
            </a:pPr>
            <a:r>
              <a:t>1.2x over chance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9748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1F4E79"/>
                </a:solidFill>
                <a:latin typeface="Calibri"/>
              </a:defRPr>
            </a:pPr>
            <a:r>
              <a:t>Why the numbers are not comparable</a:t>
            </a:r>
          </a:p>
          <a:p>
            <a:pPr>
              <a:spcAft>
                <a:spcPts val="700"/>
              </a:spcAft>
              <a:defRPr sz="1150" b="0" i="0">
                <a:solidFill>
                  <a:srgbClr val="333333"/>
                </a:solidFill>
                <a:latin typeface="Calibri"/>
              </a:defRPr>
            </a:pPr>
            <a:r>
              <a:t>•  KT models score AUC on one binary event - will the next answer be correct - over millions of real interactions.</a:t>
            </a:r>
          </a:p>
          <a:p>
            <a:pPr>
              <a:spcAft>
                <a:spcPts val="700"/>
              </a:spcAft>
              <a:defRPr sz="1150" b="0" i="0">
                <a:solidFill>
                  <a:srgbClr val="333333"/>
                </a:solidFill>
                <a:latin typeface="Calibri"/>
              </a:defRPr>
            </a:pPr>
            <a:r>
              <a:t>•  CP-Curriculum reports top-1 accuracy across four heterogeneous heads, two of which are 3-way and 10-way classification.</a:t>
            </a:r>
          </a:p>
          <a:p>
            <a:pPr>
              <a:spcAft>
                <a:spcPts val="700"/>
              </a:spcAft>
              <a:defRPr sz="1150" b="0" i="0">
                <a:solidFill>
                  <a:srgbClr val="333333"/>
                </a:solidFill>
                <a:latin typeface="Calibri"/>
              </a:defRPr>
            </a:pPr>
            <a:r>
              <a:t>•  Our 1,000 samples are synthetic; ASSISTments2009 has ~325,000 real responses.</a:t>
            </a:r>
          </a:p>
          <a:p>
            <a:pPr>
              <a:spcAft>
                <a:spcPts val="700"/>
              </a:spcAft>
              <a:defRPr sz="1150" b="0" i="0">
                <a:solidFill>
                  <a:srgbClr val="333333"/>
                </a:solidFill>
                <a:latin typeface="Calibri"/>
              </a:defRPr>
            </a:pPr>
            <a:r>
              <a:t>•  AUC and top-1 accuracy over different label spaces cannot be placed on one axis.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69748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1F4E79"/>
                </a:solidFill>
                <a:latin typeface="Calibri"/>
              </a:defRPr>
            </a:pPr>
            <a:r>
              <a:t>Where the state of the art still leads</a:t>
            </a:r>
          </a:p>
          <a:p>
            <a:pPr>
              <a:spcAft>
                <a:spcPts val="700"/>
              </a:spcAft>
              <a:defRPr sz="1150" b="0" i="0">
                <a:solidFill>
                  <a:srgbClr val="333333"/>
                </a:solidFill>
                <a:latin typeface="Calibri"/>
              </a:defRPr>
            </a:pPr>
            <a:r>
              <a:t>•  Temporal modelling: DKT / AKT learn how knowledge evolves over a sequence; our model is a single snapshot.</a:t>
            </a:r>
          </a:p>
          <a:p>
            <a:pPr>
              <a:spcAft>
                <a:spcPts val="700"/>
              </a:spcAft>
              <a:defRPr sz="1150" b="0" i="0">
                <a:solidFill>
                  <a:srgbClr val="333333"/>
                </a:solidFill>
                <a:latin typeface="Calibri"/>
              </a:defRPr>
            </a:pPr>
            <a:r>
              <a:t>•  Scale: they are trained and validated on large public benchmarks, we are on synthetic data.</a:t>
            </a:r>
          </a:p>
          <a:p>
            <a:pPr>
              <a:spcAft>
                <a:spcPts val="700"/>
              </a:spcAft>
              <a:defRPr sz="1150" b="0" i="0">
                <a:solidFill>
                  <a:srgbClr val="333333"/>
                </a:solidFill>
                <a:latin typeface="Calibri"/>
              </a:defRPr>
            </a:pPr>
            <a:r>
              <a:t>•  Tuning: no hyperparameter search, no ensembles, no attention in our first iteration.</a:t>
            </a:r>
          </a:p>
          <a:p>
            <a:pPr>
              <a:spcAft>
                <a:spcPts val="700"/>
              </a:spcAft>
              <a:defRPr sz="1150" b="0" i="0">
                <a:solidFill>
                  <a:srgbClr val="333333"/>
                </a:solidFill>
                <a:latin typeface="Calibri"/>
              </a:defRPr>
            </a:pPr>
            <a:r>
              <a:t>•  Roadmap: Phase 2 adds real HackerRank traces and a sequence head, closing exactly these gaps.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